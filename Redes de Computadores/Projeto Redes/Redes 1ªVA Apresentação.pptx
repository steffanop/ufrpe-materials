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7" r:id="rId5"/>
    <p:sldId id="343" r:id="rId6"/>
    <p:sldId id="272" r:id="rId7"/>
    <p:sldId id="274" r:id="rId8"/>
    <p:sldId id="315" r:id="rId9"/>
    <p:sldId id="314" r:id="rId10"/>
    <p:sldId id="316" r:id="rId11"/>
    <p:sldId id="317" r:id="rId12"/>
    <p:sldId id="307" r:id="rId13"/>
    <p:sldId id="308" r:id="rId14"/>
  </p:sldIdLst>
  <p:sldSz cx="12188825" cy="6858000"/>
  <p:notesSz cx="6858000" cy="9144000"/>
  <p:defaultTextStyle>
    <a:defPPr rtl="0">
      <a:defRPr lang="pt-br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92C72742-2843-4FE6-9BAC-531F7F9B8D73}">
          <p14:sldIdLst>
            <p14:sldId id="257"/>
            <p14:sldId id="343"/>
          </p14:sldIdLst>
        </p14:section>
        <p14:section name="O Projeto" id="{A2AC94EA-054C-42B4-B989-2D188D1BD1B1}">
          <p14:sldIdLst>
            <p14:sldId id="272"/>
            <p14:sldId id="274"/>
            <p14:sldId id="315"/>
            <p14:sldId id="314"/>
            <p14:sldId id="316"/>
            <p14:sldId id="317"/>
            <p14:sldId id="307"/>
            <p14:sldId id="3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72" d="100"/>
          <a:sy n="72" d="100"/>
        </p:scale>
        <p:origin x="660" y="7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79429053-DC2A-4342-ADD4-2FD729D91E2C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Clique para editar o texto Mestre</a:t>
            </a:r>
          </a:p>
          <a:p>
            <a:pPr lvl="1" rtl="0"/>
            <a:r>
              <a:t>Segundo nível</a:t>
            </a:r>
          </a:p>
          <a:p>
            <a:pPr lvl="2" rtl="0"/>
            <a:r>
              <a:t>Terceiro nível</a:t>
            </a:r>
          </a:p>
          <a:p>
            <a:pPr lvl="3" rtl="0"/>
            <a:r>
              <a:t>Quarto nível</a:t>
            </a:r>
          </a:p>
          <a:p>
            <a:pPr lvl="4" rtl="0"/>
            <a:r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3EBA5BD7-F043-4D1B-AA17-CD412FC534DE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i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ector Reto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ctor Reto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ctor Reto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inhas inferio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a Livre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0" name="Forma Liv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1" name="Forma Livre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2" name="Espaço Reservado para Data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23" name="Espaço Reservado para Rodapé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24" name="Espaço Reservado para o Número do Slide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i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ector Reto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ector Reto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to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3" name="Espaço Reservado para Imagem 2" descr="Um espaço reservado vazio para adicionar uma imagem. Clique no espaço reservado e selecione a imagem que você deseja adiciona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pt-BR"/>
              <a:t>Clique no ícone para adicionar uma imagem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inhas à esquerda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a Livre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1" name="Forma Livre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4" name="Forma Livre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</p:grp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pt-br"/>
              <a:t>Clique para editar o estilo de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pt-br"/>
              <a:t>Editar estilos de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014DD1E-5D91-48A3-AD6D-45FBA980D106}" type="slidenum">
              <a:rPr/>
              <a:pPr rtl="0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pt-br" dirty="0"/>
              <a:t>SIM</a:t>
            </a:r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pt-BR" dirty="0"/>
              <a:t>Sistema de internet mãe</a:t>
            </a:r>
          </a:p>
          <a:p>
            <a:pPr rtl="0"/>
            <a:endParaRPr lang="pt-BR" dirty="0"/>
          </a:p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pt-br" dirty="0"/>
              <a:t>Startup SIM</a:t>
            </a:r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92500" lnSpcReduction="10000"/>
          </a:bodyPr>
          <a:lstStyle/>
          <a:p>
            <a:pPr rtl="0"/>
            <a:r>
              <a:rPr lang="pt-BR" dirty="0"/>
              <a:t>Equipe:</a:t>
            </a:r>
          </a:p>
          <a:p>
            <a:pPr rtl="0"/>
            <a:endParaRPr lang="pt-BR" dirty="0"/>
          </a:p>
          <a:p>
            <a:pPr marL="514350" indent="-514350" rtl="0">
              <a:buFont typeface="+mj-lt"/>
              <a:buAutoNum type="arabicPeriod"/>
            </a:pPr>
            <a:r>
              <a:rPr lang="pt-BR" dirty="0" err="1"/>
              <a:t>Gilvaney</a:t>
            </a:r>
            <a:r>
              <a:rPr lang="pt-BR" dirty="0"/>
              <a:t> Daniel Fernandes Leandro</a:t>
            </a:r>
          </a:p>
          <a:p>
            <a:pPr marL="514350" indent="-514350" rtl="0">
              <a:buFont typeface="+mj-lt"/>
              <a:buAutoNum type="arabicPeriod"/>
            </a:pPr>
            <a:r>
              <a:rPr lang="pt-BR" dirty="0" err="1"/>
              <a:t>Lays</a:t>
            </a:r>
            <a:r>
              <a:rPr lang="pt-BR" dirty="0"/>
              <a:t> </a:t>
            </a:r>
            <a:r>
              <a:rPr lang="pt-BR" dirty="0" err="1"/>
              <a:t>carolina</a:t>
            </a:r>
            <a:r>
              <a:rPr lang="pt-BR" dirty="0"/>
              <a:t> madeiro rodrigues</a:t>
            </a:r>
          </a:p>
          <a:p>
            <a:pPr marL="514350" indent="-514350" rtl="0">
              <a:buFont typeface="+mj-lt"/>
              <a:buAutoNum type="arabicPeriod"/>
            </a:pPr>
            <a:r>
              <a:rPr lang="pt-BR" dirty="0"/>
              <a:t>Steffano Xavier pereira</a:t>
            </a:r>
          </a:p>
          <a:p>
            <a:pPr rtl="0"/>
            <a:endParaRPr lang="pt-BR" dirty="0"/>
          </a:p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39949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BD7114-5C52-43A9-A823-A2EFC01C2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Projeto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711AA9-61D0-4AC1-BB18-71F8DF224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51434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9CC622-A1BA-406A-B179-2466AD97D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562075"/>
          </a:xfrm>
        </p:spPr>
        <p:txBody>
          <a:bodyPr>
            <a:noAutofit/>
          </a:bodyPr>
          <a:lstStyle/>
          <a:p>
            <a:r>
              <a:rPr lang="pt-BR" sz="4000" dirty="0"/>
              <a:t>Requisitos do Investidor Anjo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465109-DF0B-40CC-A996-107DED297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980728"/>
            <a:ext cx="10360501" cy="5688632"/>
          </a:xfrm>
        </p:spPr>
        <p:txBody>
          <a:bodyPr>
            <a:normAutofit fontScale="92500" lnSpcReduction="10000"/>
          </a:bodyPr>
          <a:lstStyle/>
          <a:p>
            <a:r>
              <a:rPr lang="pt-BR" sz="3600" dirty="0"/>
              <a:t>Tabela ARP sendo construída </a:t>
            </a:r>
          </a:p>
          <a:p>
            <a:r>
              <a:rPr lang="pt-BR" sz="3600" dirty="0" err="1"/>
              <a:t>Ping</a:t>
            </a:r>
            <a:r>
              <a:rPr lang="pt-BR" sz="3600" dirty="0"/>
              <a:t> entre as máquinas da mesma </a:t>
            </a:r>
            <a:r>
              <a:rPr lang="pt-BR" sz="3600" dirty="0" err="1"/>
              <a:t>sub-rede</a:t>
            </a:r>
            <a:r>
              <a:rPr lang="pt-BR" sz="3600" dirty="0"/>
              <a:t> </a:t>
            </a:r>
          </a:p>
          <a:p>
            <a:r>
              <a:rPr lang="pt-BR" sz="3600" dirty="0" err="1"/>
              <a:t>Ping</a:t>
            </a:r>
            <a:r>
              <a:rPr lang="pt-BR" sz="3600" dirty="0"/>
              <a:t> entre as máquinas de redes diferentes </a:t>
            </a:r>
          </a:p>
          <a:p>
            <a:r>
              <a:rPr lang="pt-BR" sz="3600" dirty="0" err="1"/>
              <a:t>Traceroute</a:t>
            </a:r>
            <a:r>
              <a:rPr lang="pt-BR" sz="3600" dirty="0"/>
              <a:t> entre máquinas </a:t>
            </a:r>
          </a:p>
          <a:p>
            <a:r>
              <a:rPr lang="pt-BR" sz="3600" dirty="0"/>
              <a:t>Rede implementada em IPV4 </a:t>
            </a:r>
          </a:p>
          <a:p>
            <a:r>
              <a:rPr lang="pt-BR" sz="3600" dirty="0"/>
              <a:t>Rede implementada em IPV6 </a:t>
            </a:r>
          </a:p>
          <a:p>
            <a:r>
              <a:rPr lang="pt-BR" sz="3600" dirty="0"/>
              <a:t>Criação das </a:t>
            </a:r>
            <a:r>
              <a:rPr lang="pt-BR" sz="3600" dirty="0" err="1"/>
              <a:t>Vlans</a:t>
            </a:r>
            <a:r>
              <a:rPr lang="pt-BR" sz="3600" dirty="0"/>
              <a:t>/VLSM (</a:t>
            </a:r>
            <a:r>
              <a:rPr lang="pt-BR" sz="3600" dirty="0" err="1"/>
              <a:t>HowTo</a:t>
            </a:r>
            <a:r>
              <a:rPr lang="pt-BR" sz="3600" dirty="0"/>
              <a:t>) </a:t>
            </a:r>
          </a:p>
          <a:p>
            <a:r>
              <a:rPr lang="pt-BR" sz="3600" dirty="0"/>
              <a:t>Configuração do servidor DHCP</a:t>
            </a:r>
          </a:p>
          <a:p>
            <a:r>
              <a:rPr lang="pt-BR" sz="3600" dirty="0"/>
              <a:t>Acesso à Internet (NAT)</a:t>
            </a:r>
          </a:p>
        </p:txBody>
      </p:sp>
    </p:spTree>
    <p:extLst>
      <p:ext uri="{BB962C8B-B14F-4D97-AF65-F5344CB8AC3E}">
        <p14:creationId xmlns:p14="http://schemas.microsoft.com/office/powerpoint/2010/main" val="319483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0698915-298A-4117-8D73-70F79871E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961" y="304687"/>
            <a:ext cx="10360501" cy="778099"/>
          </a:xfrm>
        </p:spPr>
        <p:txBody>
          <a:bodyPr/>
          <a:lstStyle/>
          <a:p>
            <a:pPr algn="ctr"/>
            <a:r>
              <a:rPr lang="pt-BR" b="1" dirty="0"/>
              <a:t>O PROJETO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C6372BB1-51AA-4365-AEDB-304E350CC4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512" y="1196975"/>
            <a:ext cx="10273400" cy="4967288"/>
          </a:xfrm>
        </p:spPr>
      </p:pic>
    </p:spTree>
    <p:extLst>
      <p:ext uri="{BB962C8B-B14F-4D97-AF65-F5344CB8AC3E}">
        <p14:creationId xmlns:p14="http://schemas.microsoft.com/office/powerpoint/2010/main" val="87716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B30B18-9E80-4F7A-B885-61DD3DDA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Tabela de sub-redes</a:t>
            </a:r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7ADE1A03-8569-4BBE-9763-0ADD85EDBE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91460"/>
              </p:ext>
            </p:extLst>
          </p:nvPr>
        </p:nvGraphicFramePr>
        <p:xfrm>
          <a:off x="909836" y="2060848"/>
          <a:ext cx="10669548" cy="3528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8146">
                  <a:extLst>
                    <a:ext uri="{9D8B030D-6E8A-4147-A177-3AD203B41FA5}">
                      <a16:colId xmlns:a16="http://schemas.microsoft.com/office/drawing/2014/main" val="1213262534"/>
                    </a:ext>
                  </a:extLst>
                </a:gridCol>
                <a:gridCol w="2098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3293">
                  <a:extLst>
                    <a:ext uri="{9D8B030D-6E8A-4147-A177-3AD203B41FA5}">
                      <a16:colId xmlns:a16="http://schemas.microsoft.com/office/drawing/2014/main" val="3837999329"/>
                    </a:ext>
                  </a:extLst>
                </a:gridCol>
                <a:gridCol w="2689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2098">
                <a:tc>
                  <a:txBody>
                    <a:bodyPr/>
                    <a:lstStyle/>
                    <a:p>
                      <a:pPr algn="ctr" fontAlgn="b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Hosts</a:t>
                      </a:r>
                    </a:p>
                  </a:txBody>
                  <a:tcPr marL="9525" marR="9525" marT="9525" marB="0" anchor="ctr">
                    <a:solidFill>
                      <a:srgbClr val="008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b="0" dirty="0"/>
                        <a:t>Hosts Disponíveis</a:t>
                      </a:r>
                    </a:p>
                  </a:txBody>
                  <a:tcPr marL="9525" marR="9525" marT="9525" marB="0" anchor="ctr">
                    <a:solidFill>
                      <a:srgbClr val="008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b="0" dirty="0"/>
                        <a:t>Endereço de rede</a:t>
                      </a:r>
                    </a:p>
                  </a:txBody>
                  <a:tcPr marL="9525" marR="9525" marT="9525" marB="0" anchor="ctr">
                    <a:solidFill>
                      <a:srgbClr val="008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b="0" dirty="0"/>
                        <a:t>Máscara</a:t>
                      </a:r>
                    </a:p>
                  </a:txBody>
                  <a:tcPr marL="9525" marR="9525" marT="9525" marB="0" anchor="ctr">
                    <a:solidFill>
                      <a:srgbClr val="008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b="0" dirty="0"/>
                        <a:t>Range de IP</a:t>
                      </a:r>
                    </a:p>
                  </a:txBody>
                  <a:tcPr marL="9525" marR="9525" marT="9525" marB="0" anchor="ctr">
                    <a:solidFill>
                      <a:srgbClr val="0082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2098">
                <a:tc>
                  <a:txBody>
                    <a:bodyPr/>
                    <a:lstStyle/>
                    <a:p>
                      <a:pPr algn="ctr" fontAlgn="b"/>
                      <a:r>
                        <a:rPr lang="pt-BR" sz="2200" dirty="0"/>
                        <a:t>Servidor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200" dirty="0"/>
                        <a:t>510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200" dirty="0"/>
                        <a:t>10.1.6.0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200" dirty="0"/>
                        <a:t>255.255.254.0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200" dirty="0"/>
                        <a:t>10.1.6.1 - 10.1.7.254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2098">
                <a:tc>
                  <a:txBody>
                    <a:bodyPr/>
                    <a:lstStyle/>
                    <a:p>
                      <a:pPr algn="ctr" fontAlgn="b"/>
                      <a:r>
                        <a:rPr lang="pt-BR" sz="2200" dirty="0"/>
                        <a:t>VLAN 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200" dirty="0"/>
                        <a:t>126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200" dirty="0"/>
                        <a:t>10.1.8.0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200" dirty="0"/>
                        <a:t>255.255.255.128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200"/>
                        <a:t>10.1.8.1 - 10.1.8.126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098">
                <a:tc>
                  <a:txBody>
                    <a:bodyPr/>
                    <a:lstStyle/>
                    <a:p>
                      <a:pPr algn="ctr" fontAlgn="b"/>
                      <a:r>
                        <a:rPr lang="pt-BR" sz="2200" dirty="0"/>
                        <a:t>VLAN 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200" dirty="0"/>
                        <a:t>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200" dirty="0"/>
                        <a:t>10.1.8.128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200" dirty="0"/>
                        <a:t>255.255.255.192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200" dirty="0"/>
                        <a:t>10.1.8.129 - 10.1.8.190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923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A1BCEF-3320-4FD5-837D-D04762CDC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/>
          <a:lstStyle/>
          <a:p>
            <a:pPr algn="ctr"/>
            <a:r>
              <a:rPr lang="pt-BR" dirty="0"/>
              <a:t>Observando a Camada Física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89BE63-B276-48A3-9FAF-44551CFE6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412776"/>
            <a:ext cx="10360501" cy="4751293"/>
          </a:xfrm>
        </p:spPr>
        <p:txBody>
          <a:bodyPr/>
          <a:lstStyle/>
          <a:p>
            <a:r>
              <a:rPr lang="pt-BR" dirty="0"/>
              <a:t>R1 – Corresponde ao Roteador (Camada 3)</a:t>
            </a:r>
          </a:p>
          <a:p>
            <a:r>
              <a:rPr lang="pt-BR" dirty="0"/>
              <a:t>ESW1 – Corresponde ao Switch Ethernet Gerenciável</a:t>
            </a:r>
          </a:p>
          <a:p>
            <a:r>
              <a:rPr lang="pt-BR" dirty="0"/>
              <a:t>Hub1 – Correspondente a um Hub </a:t>
            </a:r>
          </a:p>
          <a:p>
            <a:r>
              <a:rPr lang="pt-BR" dirty="0"/>
              <a:t>Switch1 – Corresponde a um Switch</a:t>
            </a:r>
          </a:p>
          <a:p>
            <a:pPr lvl="1"/>
            <a:r>
              <a:rPr lang="pt-BR" dirty="0"/>
              <a:t>Operando apenas na camada 2</a:t>
            </a:r>
          </a:p>
        </p:txBody>
      </p:sp>
      <p:pic>
        <p:nvPicPr>
          <p:cNvPr id="4" name="Espaço Reservado para Conteúdo 6">
            <a:extLst>
              <a:ext uri="{FF2B5EF4-FFF2-40B4-BE49-F238E27FC236}">
                <a16:creationId xmlns:a16="http://schemas.microsoft.com/office/drawing/2014/main" id="{EE3E1FDF-7758-4C6F-8355-539C61807DF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40"/>
          <a:stretch/>
        </p:blipFill>
        <p:spPr>
          <a:xfrm>
            <a:off x="3045944" y="4251439"/>
            <a:ext cx="6096936" cy="230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768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1AC2E8-D408-4019-97D9-B7E7DE122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850107"/>
          </a:xfrm>
        </p:spPr>
        <p:txBody>
          <a:bodyPr/>
          <a:lstStyle/>
          <a:p>
            <a:r>
              <a:rPr lang="pt-BR" dirty="0"/>
              <a:t>Conexões Locais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AAC78C-A1CA-4EE0-9858-2DEA98ADE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268760"/>
            <a:ext cx="10360501" cy="4895309"/>
          </a:xfrm>
        </p:spPr>
        <p:txBody>
          <a:bodyPr/>
          <a:lstStyle/>
          <a:p>
            <a:r>
              <a:rPr lang="pt-BR" b="1" dirty="0"/>
              <a:t>Separadas por </a:t>
            </a:r>
            <a:r>
              <a:rPr lang="pt-BR" b="1" dirty="0" err="1"/>
              <a:t>VLANs</a:t>
            </a:r>
            <a:r>
              <a:rPr lang="pt-BR" b="1" dirty="0"/>
              <a:t>:</a:t>
            </a:r>
          </a:p>
          <a:p>
            <a:r>
              <a:rPr lang="pt-BR" dirty="0"/>
              <a:t>VLAN 25</a:t>
            </a:r>
          </a:p>
          <a:p>
            <a:pPr lvl="1"/>
            <a:r>
              <a:rPr lang="pt-BR" dirty="0"/>
              <a:t>Interfaces f1/1 – 7 (8 interfaces)</a:t>
            </a:r>
          </a:p>
          <a:p>
            <a:pPr lvl="1"/>
            <a:r>
              <a:rPr lang="pt-BR" dirty="0"/>
              <a:t>Pode ser Ligada com Hubs e Switch (Podem operar com IEEE 802.1Q)</a:t>
            </a:r>
          </a:p>
          <a:p>
            <a:pPr lvl="1"/>
            <a:r>
              <a:rPr lang="pt-BR" dirty="0"/>
              <a:t>Preparada para ter 62 hosts</a:t>
            </a:r>
          </a:p>
          <a:p>
            <a:endParaRPr lang="pt-BR" dirty="0"/>
          </a:p>
          <a:p>
            <a:r>
              <a:rPr lang="pt-BR" dirty="0"/>
              <a:t>VLAN 35</a:t>
            </a:r>
          </a:p>
          <a:p>
            <a:pPr lvl="1"/>
            <a:r>
              <a:rPr lang="pt-BR" dirty="0"/>
              <a:t>Interfaces f1/8 – 15 (8 interfaces)</a:t>
            </a:r>
          </a:p>
          <a:p>
            <a:pPr lvl="1"/>
            <a:r>
              <a:rPr lang="pt-BR" dirty="0"/>
              <a:t>Pode ser Ligada com Hubs e Switch (Podem operar com IEEE 802.1Q)</a:t>
            </a:r>
          </a:p>
          <a:p>
            <a:pPr lvl="1"/>
            <a:r>
              <a:rPr lang="pt-BR" dirty="0"/>
              <a:t>Preparada para ter até 126 hosts</a:t>
            </a:r>
          </a:p>
        </p:txBody>
      </p:sp>
    </p:spTree>
    <p:extLst>
      <p:ext uri="{BB962C8B-B14F-4D97-AF65-F5344CB8AC3E}">
        <p14:creationId xmlns:p14="http://schemas.microsoft.com/office/powerpoint/2010/main" val="4048927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63608BEE-98EF-4E44-9F8A-008D0A255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VLAN 25</a:t>
            </a:r>
          </a:p>
        </p:txBody>
      </p:sp>
      <p:pic>
        <p:nvPicPr>
          <p:cNvPr id="8" name="Espaço Reservado para Imagem 7">
            <a:extLst>
              <a:ext uri="{FF2B5EF4-FFF2-40B4-BE49-F238E27FC236}">
                <a16:creationId xmlns:a16="http://schemas.microsoft.com/office/drawing/2014/main" id="{1D6DE02E-DFA6-45FB-8555-E0272FD5E9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4654252" y="1904638"/>
            <a:ext cx="6925132" cy="3533854"/>
          </a:xfrm>
        </p:spPr>
      </p:pic>
      <p:sp>
        <p:nvSpPr>
          <p:cNvPr id="11" name="Espaço Reservado para Texto 6">
            <a:extLst>
              <a:ext uri="{FF2B5EF4-FFF2-40B4-BE49-F238E27FC236}">
                <a16:creationId xmlns:a16="http://schemas.microsoft.com/office/drawing/2014/main" id="{0CCA878F-114F-4A9D-ABDC-822E9F049148}"/>
              </a:ext>
            </a:extLst>
          </p:cNvPr>
          <p:cNvSpPr txBox="1">
            <a:spLocks/>
          </p:cNvSpPr>
          <p:nvPr/>
        </p:nvSpPr>
        <p:spPr>
          <a:xfrm>
            <a:off x="909836" y="2132856"/>
            <a:ext cx="4062942" cy="3240360"/>
          </a:xfrm>
          <a:prstGeom prst="rect">
            <a:avLst/>
          </a:prstGeom>
        </p:spPr>
        <p:txBody>
          <a:bodyPr/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pt-BR" dirty="0"/>
              <a:t>Interfaces:</a:t>
            </a:r>
          </a:p>
          <a:p>
            <a:pPr marL="342900" indent="-342900"/>
            <a:r>
              <a:rPr lang="pt-BR" dirty="0"/>
              <a:t>F1/1</a:t>
            </a:r>
          </a:p>
          <a:p>
            <a:pPr marL="342900" indent="-342900"/>
            <a:r>
              <a:rPr lang="pt-BR" dirty="0"/>
              <a:t>F1/2</a:t>
            </a:r>
          </a:p>
          <a:p>
            <a:pPr marL="342900" indent="-342900"/>
            <a:r>
              <a:rPr lang="pt-BR" dirty="0"/>
              <a:t>...</a:t>
            </a:r>
          </a:p>
          <a:p>
            <a:pPr marL="342900" indent="-342900"/>
            <a:r>
              <a:rPr lang="pt-BR" dirty="0"/>
              <a:t>F1/7</a:t>
            </a:r>
          </a:p>
          <a:p>
            <a:pPr marL="342900" indent="-342900"/>
            <a:endParaRPr lang="pt-BR" dirty="0"/>
          </a:p>
          <a:p>
            <a:pPr marL="342900" indent="-34290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6390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63608BEE-98EF-4E44-9F8A-008D0A255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VLAN 35</a:t>
            </a:r>
          </a:p>
        </p:txBody>
      </p:sp>
      <p:sp>
        <p:nvSpPr>
          <p:cNvPr id="11" name="Espaço Reservado para Texto 6">
            <a:extLst>
              <a:ext uri="{FF2B5EF4-FFF2-40B4-BE49-F238E27FC236}">
                <a16:creationId xmlns:a16="http://schemas.microsoft.com/office/drawing/2014/main" id="{0CCA878F-114F-4A9D-ABDC-822E9F049148}"/>
              </a:ext>
            </a:extLst>
          </p:cNvPr>
          <p:cNvSpPr txBox="1">
            <a:spLocks/>
          </p:cNvSpPr>
          <p:nvPr/>
        </p:nvSpPr>
        <p:spPr>
          <a:xfrm>
            <a:off x="909836" y="2132856"/>
            <a:ext cx="4062942" cy="3314440"/>
          </a:xfrm>
          <a:prstGeom prst="rect">
            <a:avLst/>
          </a:prstGeom>
        </p:spPr>
        <p:txBody>
          <a:bodyPr/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pt-BR" dirty="0"/>
              <a:t>Interfaces:</a:t>
            </a:r>
          </a:p>
          <a:p>
            <a:pPr marL="342900" indent="-342900"/>
            <a:r>
              <a:rPr lang="pt-BR" dirty="0"/>
              <a:t>F1/8</a:t>
            </a:r>
          </a:p>
          <a:p>
            <a:pPr marL="342900" indent="-342900"/>
            <a:r>
              <a:rPr lang="pt-BR" dirty="0"/>
              <a:t>F1/9</a:t>
            </a:r>
          </a:p>
          <a:p>
            <a:pPr marL="342900" indent="-342900"/>
            <a:r>
              <a:rPr lang="pt-BR" dirty="0"/>
              <a:t>...</a:t>
            </a:r>
          </a:p>
          <a:p>
            <a:pPr marL="342900" indent="-342900"/>
            <a:r>
              <a:rPr lang="pt-BR" dirty="0"/>
              <a:t>F1/15</a:t>
            </a:r>
          </a:p>
          <a:p>
            <a:pPr marL="342900" indent="-342900"/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9B582BA-48BE-433D-AE8E-13E5F198D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111" y="1970186"/>
            <a:ext cx="6973273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093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nologia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14_TF02787990" id="{E2EB6F66-559D-4935-B0FE-CC1100470BBA}" vid="{EDFAEEEF-A820-4D8D-8A70-9CA9D460C139}"/>
    </a:ext>
  </a:extLst>
</a:theme>
</file>

<file path=ppt/theme/theme2.xml><?xml version="1.0" encoding="utf-8"?>
<a:theme xmlns:a="http://schemas.openxmlformats.org/drawingml/2006/main" name="Tema do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com linhas de circuito triplas (widescreen)</Template>
  <TotalTime>625</TotalTime>
  <Words>229</Words>
  <Application>Microsoft Office PowerPoint</Application>
  <PresentationFormat>Personalizar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Tecnologia 16x9</vt:lpstr>
      <vt:lpstr>SIM</vt:lpstr>
      <vt:lpstr>Startup SIM</vt:lpstr>
      <vt:lpstr>O Projeto</vt:lpstr>
      <vt:lpstr>Requisitos do Investidor Anjo</vt:lpstr>
      <vt:lpstr>O PROJETO</vt:lpstr>
      <vt:lpstr>Tabela de sub-redes</vt:lpstr>
      <vt:lpstr>Observando a Camada Física</vt:lpstr>
      <vt:lpstr>Conexões Locais</vt:lpstr>
      <vt:lpstr>VLAN 25</vt:lpstr>
      <vt:lpstr>VLAN 35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Grupo SIM</dc:title>
  <dc:creator>Steffano Pereira</dc:creator>
  <cp:lastModifiedBy>Steffano Pereira</cp:lastModifiedBy>
  <cp:revision>46</cp:revision>
  <dcterms:created xsi:type="dcterms:W3CDTF">2020-09-18T18:25:11Z</dcterms:created>
  <dcterms:modified xsi:type="dcterms:W3CDTF">2020-09-22T13:35:54Z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